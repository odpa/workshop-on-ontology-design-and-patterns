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Geist" pitchFamily="2" charset="77"/>
      <p:regular r:id="rId18"/>
      <p:bold r:id="rId19"/>
    </p:embeddedFont>
    <p:embeddedFont>
      <p:font typeface="Montserrat Medium" panose="00000600000000000000" pitchFamily="2" charset="77"/>
      <p:regular r:id="rId20"/>
      <p:bold r:id="rId21"/>
      <p:italic r:id="rId22"/>
      <p:boldItalic r:id="rId23"/>
    </p:embeddedFont>
    <p:embeddedFont>
      <p:font typeface="Roboto Mono" pitchFamily="49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>
      <p:cViewPr varScale="1">
        <p:scale>
          <a:sx n="139" d="100"/>
          <a:sy n="139" d="100"/>
        </p:scale>
        <p:origin x="176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Introduce yourself: Name, year, program, advisor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428c486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b428c486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428c486b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b428c486b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b428c486b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b428c486b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b428c486b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b428c486b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b428c486b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b428c486b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b428c486b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b428c486b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b428c486b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b428c486b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428c486b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428c486b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b428c486b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b428c486b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b428c486b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b428c486b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b428c486b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b428c486b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b428c486b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b428c486b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b428c486b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b428c486b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b428c486b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b428c486b_1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50" y="2320400"/>
            <a:ext cx="9144000" cy="28230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28600" y="2320400"/>
            <a:ext cx="8686800" cy="11625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eist"/>
              <a:buNone/>
              <a:defRPr sz="3600">
                <a:solidFill>
                  <a:schemeClr val="lt2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28600" y="3426075"/>
            <a:ext cx="5626800" cy="14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0" y="0"/>
            <a:ext cx="9144000" cy="451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2" title="RPI_Logo_Defaul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025" y="359350"/>
            <a:ext cx="2607500" cy="157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title="twc-logo-lightgreen-full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0982" y="3281341"/>
            <a:ext cx="3815024" cy="202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- Alternate">
  <p:cSld name="TITLE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50" y="2320400"/>
            <a:ext cx="9144000" cy="28230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228600" y="2320400"/>
            <a:ext cx="8686800" cy="11625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eist"/>
              <a:buNone/>
              <a:defRPr sz="3600">
                <a:solidFill>
                  <a:schemeClr val="lt2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228600" y="3426075"/>
            <a:ext cx="5626800" cy="14025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0"/>
            <a:ext cx="9144000" cy="451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3" title="RPI_Logo_Defaul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025" y="359350"/>
            <a:ext cx="2607500" cy="157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 title="white-TWC-shad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7800" y="3240125"/>
            <a:ext cx="3923350" cy="20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- Alternate 2">
  <p:cSld name="TITLE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0" y="2320400"/>
            <a:ext cx="9144000" cy="28230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ctrTitle"/>
          </p:nvPr>
        </p:nvSpPr>
        <p:spPr>
          <a:xfrm>
            <a:off x="228600" y="2320400"/>
            <a:ext cx="8686800" cy="116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eist"/>
              <a:buNone/>
              <a:defRPr sz="3600">
                <a:solidFill>
                  <a:schemeClr val="lt2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1"/>
          </p:nvPr>
        </p:nvSpPr>
        <p:spPr>
          <a:xfrm>
            <a:off x="228600" y="3426075"/>
            <a:ext cx="5626800" cy="14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0" y="0"/>
            <a:ext cx="9144000" cy="451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" name="Google Shape;35;p4" title="twc-logo-dark-green-white-full-GEIS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67062" y="3165808"/>
            <a:ext cx="5919724" cy="19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 title="RPI_Logo_Defa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25" y="359350"/>
            <a:ext cx="2607500" cy="157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0" y="-75"/>
            <a:ext cx="9144000" cy="51435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2379450"/>
            <a:ext cx="8520600" cy="841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0" y="0"/>
            <a:ext cx="9144000" cy="1524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75FD15-6EE5-5A19-5553-8B0ECD231CC3}"/>
              </a:ext>
            </a:extLst>
          </p:cNvPr>
          <p:cNvSpPr txBox="1"/>
          <p:nvPr userDrawn="1"/>
        </p:nvSpPr>
        <p:spPr>
          <a:xfrm>
            <a:off x="1073098" y="4740579"/>
            <a:ext cx="67890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100" dirty="0">
                <a:solidFill>
                  <a:schemeClr val="bg1"/>
                </a:solidFill>
              </a:rPr>
              <a:t>ARGOS: Ontology Design Patterns for Governing Dynamic Data Operations in LLM-Powered Applications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+ logo">
  <p:cSld name="TITLE_AND_BODY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7" title="new-notext.png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311700" y="1017734"/>
            <a:ext cx="8438776" cy="34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Logo">
  <p:cSld name="TITLE_ONLY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0" title="new-notext.png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311700" y="1017734"/>
            <a:ext cx="8438776" cy="34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0" y="0"/>
            <a:ext cx="9144000" cy="451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4572000" y="0"/>
            <a:ext cx="4572000" cy="46767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2634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"/>
          </p:nvPr>
        </p:nvSpPr>
        <p:spPr>
          <a:xfrm>
            <a:off x="2634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Char char="●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○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■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●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○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■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●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○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400"/>
              <a:buFont typeface="Montserrat Medium"/>
              <a:buChar char="■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cription and section title">
  <p:cSld name="SECTION_TITLE_AND_DESCRIPTION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0" y="0"/>
            <a:ext cx="9144000" cy="451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0" y="0"/>
            <a:ext cx="4572000" cy="47397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48354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1"/>
          </p:nvPr>
        </p:nvSpPr>
        <p:spPr>
          <a:xfrm>
            <a:off x="48354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367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Char char="●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○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■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●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○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■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●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Char char="○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400"/>
              <a:buFont typeface="Montserrat Medium"/>
              <a:buChar char="■"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0" y="0"/>
            <a:ext cx="9144000" cy="451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0" y="0"/>
            <a:ext cx="9144000" cy="451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0" y="4681525"/>
            <a:ext cx="9144000" cy="4515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703625"/>
            <a:ext cx="9144000" cy="4359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"/>
              <a:buNone/>
              <a:defRPr sz="2800" b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eist"/>
              <a:buChar char="●"/>
              <a:defRPr sz="1600"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●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●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0" y="-75"/>
            <a:ext cx="9144000" cy="298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76470" y="4772175"/>
            <a:ext cx="495510" cy="298800"/>
          </a:xfrm>
          <a:prstGeom prst="rect">
            <a:avLst/>
          </a:prstGeom>
          <a:solidFill>
            <a:srgbClr val="DB091C"/>
          </a:solidFill>
          <a:ln>
            <a:noFill/>
          </a:ln>
        </p:spPr>
      </p:pic>
      <p:pic>
        <p:nvPicPr>
          <p:cNvPr id="12" name="Google Shape;12;p1" title="white-TWC-shadow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839984" y="4714441"/>
            <a:ext cx="912501" cy="4849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ctrTitle"/>
          </p:nvPr>
        </p:nvSpPr>
        <p:spPr>
          <a:xfrm>
            <a:off x="228600" y="2320400"/>
            <a:ext cx="8686800" cy="116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2536" dirty="0"/>
              <a:t>ARGOS: Ontology Design Patterns for Governing Dynamic Data Operations in LLM-Powered Applications</a:t>
            </a:r>
            <a:endParaRPr sz="1960" dirty="0"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1"/>
          </p:nvPr>
        </p:nvSpPr>
        <p:spPr>
          <a:xfrm>
            <a:off x="-281197" y="3604281"/>
            <a:ext cx="6261212" cy="14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r>
              <a:rPr lang="en-US" b="1" dirty="0"/>
              <a:t>	Nipun D. </a:t>
            </a:r>
            <a:r>
              <a:rPr lang="en-US" b="1" dirty="0" err="1"/>
              <a:t>Pathirage</a:t>
            </a:r>
            <a:r>
              <a:rPr lang="en-US" b="1" dirty="0"/>
              <a:t>, </a:t>
            </a:r>
            <a:r>
              <a:rPr lang="en-US" b="1" u="sng" dirty="0"/>
              <a:t>Oshani Seneviratne</a:t>
            </a:r>
            <a:r>
              <a:rPr lang="en-US" b="1" dirty="0"/>
              <a:t>, </a:t>
            </a:r>
            <a:r>
              <a:rPr lang="en-US" sz="1400" dirty="0"/>
              <a:t> </a:t>
            </a:r>
          </a:p>
          <a:p>
            <a:r>
              <a:rPr lang="en-US" sz="1400" b="1" dirty="0"/>
              <a:t>	</a:t>
            </a:r>
            <a:r>
              <a:rPr lang="en-US" b="1" dirty="0"/>
              <a:t>and Deborah L. McGuinness</a:t>
            </a:r>
          </a:p>
          <a:p>
            <a:r>
              <a:rPr lang="en" sz="1600" b="1" dirty="0"/>
              <a:t>	{</a:t>
            </a:r>
            <a:r>
              <a:rPr lang="en" sz="1600" b="1" dirty="0" err="1"/>
              <a:t>pathin</a:t>
            </a:r>
            <a:r>
              <a:rPr lang="en" sz="1600" b="1" dirty="0"/>
              <a:t>, </a:t>
            </a:r>
            <a:r>
              <a:rPr lang="en" sz="1600" b="1" u="sng" dirty="0" err="1"/>
              <a:t>senevo</a:t>
            </a:r>
            <a:r>
              <a:rPr lang="en" sz="1600" b="1" dirty="0"/>
              <a:t>, </a:t>
            </a:r>
            <a:r>
              <a:rPr lang="en" sz="1600" b="1" dirty="0" err="1"/>
              <a:t>dlm</a:t>
            </a:r>
            <a:r>
              <a:rPr lang="en" sz="1600" b="1" dirty="0"/>
              <a:t>} @</a:t>
            </a:r>
            <a:r>
              <a:rPr lang="en" sz="1600" b="1" dirty="0" err="1"/>
              <a:t>rpi.edu</a:t>
            </a:r>
            <a:endParaRPr lang="en" sz="16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          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6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           ISWC - WOP 25</a:t>
            </a:r>
            <a:endParaRPr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LLM Revolution in the Enterprise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Large Language Models (LLMs) are moving beyond simple chatbots.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They are becoming autonomous "agents" that are being connected to critical enterprise systems.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This includes direct access to internal databases, APIs, and proprietary knowledge sources.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Automate complex tasks and unlock insights from private data.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Background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RAG - Database Interaction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Retrieval-Augmented Generation (RAG) systems give LLMs direct access to enterprise databases.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The LLM generates complex, context-specific queries "on demand" to answer user prompts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Background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8" name="Google Shape;118;p20" title="rag_over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9275" y="1288725"/>
            <a:ext cx="4353302" cy="2918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Access Control "Paradigm Clash"</a:t>
            </a:r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❏"/>
            </a:pPr>
            <a:r>
              <a:rPr lang="en" b="1"/>
              <a:t>The Old World </a:t>
            </a:r>
            <a:r>
              <a:rPr lang="en"/>
              <a:t>(Human Users)</a:t>
            </a:r>
            <a:endParaRPr/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Actor: A human (e.g., '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Alice</a:t>
            </a:r>
            <a:r>
              <a:rPr lang="en"/>
              <a:t>', a Sales Manager).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Actions: A </a:t>
            </a:r>
            <a:r>
              <a:rPr lang="en" b="1"/>
              <a:t>predefined, finite list</a:t>
            </a:r>
            <a:r>
              <a:rPr lang="en"/>
              <a:t> (e.g.,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View_Report</a:t>
            </a:r>
            <a:r>
              <a:rPr lang="en"/>
              <a:t>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Edit_Customer_Record</a:t>
            </a:r>
            <a:r>
              <a:rPr lang="en"/>
              <a:t>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Policy Model: Role-Based Access Control (RBAC). "Sales Managers can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View_Report</a:t>
            </a:r>
            <a:r>
              <a:rPr lang="en"/>
              <a:t>."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❏"/>
            </a:pPr>
            <a:r>
              <a:rPr lang="en" b="1"/>
              <a:t>The New World</a:t>
            </a:r>
            <a:r>
              <a:rPr lang="en"/>
              <a:t> (AI Agents)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Actor: An AI Agent (e.g., `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Sales_Bot`</a:t>
            </a:r>
            <a:r>
              <a:rPr lang="en"/>
              <a:t>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Actions: Dynamically generated and effectively unbounded (e.g., "Summarize sales for customers in NY" -&gt; `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SELECT…`</a:t>
            </a:r>
            <a:r>
              <a:rPr lang="en"/>
              <a:t>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Policy Model: </a:t>
            </a:r>
            <a:r>
              <a:rPr lang="en" b="1"/>
              <a:t>???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Background</a:t>
            </a:r>
            <a:endParaRPr sz="1300" dirty="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311700" y="795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Emerged Challenge …</a:t>
            </a:r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5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How do we write policies that covers a large control space of queries, generated by LLM?</a:t>
            </a:r>
            <a:endParaRPr sz="2000"/>
          </a:p>
        </p:txBody>
      </p:sp>
      <p:sp>
        <p:nvSpPr>
          <p:cNvPr id="133" name="Google Shape;133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Background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311700" y="265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Solution …</a:t>
            </a:r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311700" y="3011175"/>
            <a:ext cx="8520600" cy="15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 dirty="0"/>
              <a:t>This is fundamentally a semantic problem, not a syntactic one. We need to understand the meaning and context of a dynamic action.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13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an Ontology Design Pattern (ODP)?</a:t>
            </a:r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b="1" dirty="0"/>
              <a:t>Why an Ontology?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dirty="0"/>
              <a:t>Provides a formal, machine-interpretable model.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dirty="0"/>
              <a:t>Allows us to represent the semantics of the data </a:t>
            </a:r>
            <a:r>
              <a:rPr lang="en" b="1" dirty="0"/>
              <a:t>Schema</a:t>
            </a:r>
            <a:r>
              <a:rPr lang="en" dirty="0"/>
              <a:t>, the </a:t>
            </a:r>
            <a:r>
              <a:rPr lang="en" b="1" dirty="0"/>
              <a:t>Policy</a:t>
            </a:r>
            <a:r>
              <a:rPr lang="en" dirty="0"/>
              <a:t>, and the </a:t>
            </a:r>
            <a:r>
              <a:rPr lang="en" b="1" dirty="0"/>
              <a:t>Query </a:t>
            </a:r>
            <a:r>
              <a:rPr lang="en" dirty="0"/>
              <a:t>in one unified framework.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dirty="0"/>
              <a:t>Enables a reasoner to infer the query's intent and detect violations against the policy.</a:t>
            </a:r>
            <a:endParaRPr dirty="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❏"/>
            </a:pPr>
            <a:r>
              <a:rPr lang="en" b="1" dirty="0"/>
              <a:t>Why a Pattern (ODP)?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dirty="0"/>
              <a:t>An ODP provides an adaptable blueprint for governing dynamic queries.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dirty="0"/>
              <a:t>It's not just for </a:t>
            </a:r>
            <a:r>
              <a:rPr lang="en" b="1" dirty="0"/>
              <a:t>SQL</a:t>
            </a:r>
            <a:r>
              <a:rPr lang="en" dirty="0"/>
              <a:t>. The abstract pattern can be applied to </a:t>
            </a:r>
            <a:r>
              <a:rPr lang="en" dirty="0" err="1"/>
              <a:t>GraphQL</a:t>
            </a:r>
            <a:r>
              <a:rPr lang="en" dirty="0"/>
              <a:t>, SPARQL, and other query languages.</a:t>
            </a:r>
            <a:endParaRPr dirty="0"/>
          </a:p>
        </p:txBody>
      </p:sp>
      <p:sp>
        <p:nvSpPr>
          <p:cNvPr id="143" name="Google Shape;143;p2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44" name="Google Shape;144;p23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Background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title"/>
          </p:nvPr>
        </p:nvSpPr>
        <p:spPr>
          <a:xfrm>
            <a:off x="2634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Methodology</a:t>
            </a:r>
            <a:endParaRPr sz="2600"/>
          </a:p>
        </p:txBody>
      </p:sp>
      <p:sp>
        <p:nvSpPr>
          <p:cNvPr id="150" name="Google Shape;150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ARGOS: Action Realignment using Graph-based Ontological Semantics.</a:t>
            </a:r>
            <a:endParaRPr sz="20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it?</a:t>
            </a:r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An ODP that semantically unifies the "three worlds" of data governance:</a:t>
            </a:r>
            <a:endParaRPr/>
          </a:p>
          <a:p>
            <a:pPr marL="9144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/>
              <a:t>The Schema Component</a:t>
            </a:r>
            <a:r>
              <a:rPr lang="en"/>
              <a:t>: </a:t>
            </a:r>
            <a:br>
              <a:rPr lang="en"/>
            </a:br>
            <a:r>
              <a:rPr lang="en" i="1"/>
              <a:t>What data exists?</a:t>
            </a:r>
            <a:r>
              <a:rPr lang="en"/>
              <a:t> (e.g.,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n"/>
              <a:t>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"/>
              <a:t>) .</a:t>
            </a:r>
            <a:endParaRPr/>
          </a:p>
          <a:p>
            <a:pPr marL="9144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/>
              <a:t>The Policy Component</a:t>
            </a:r>
            <a:r>
              <a:rPr lang="en"/>
              <a:t>: </a:t>
            </a:r>
            <a:br>
              <a:rPr lang="en"/>
            </a:br>
            <a:r>
              <a:rPr lang="en" i="1"/>
              <a:t>Who can do what?</a:t>
            </a:r>
            <a:r>
              <a:rPr lang="en"/>
              <a:t> (e.g.,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Agent</a:t>
            </a:r>
            <a:r>
              <a:rPr lang="en"/>
              <a:t>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lang="en"/>
              <a:t>) .</a:t>
            </a:r>
            <a:endParaRPr/>
          </a:p>
          <a:p>
            <a:pPr marL="9144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/>
              <a:t>The Query Structure Component</a:t>
            </a:r>
            <a:r>
              <a:rPr lang="en"/>
              <a:t>: </a:t>
            </a:r>
            <a:br>
              <a:rPr lang="en"/>
            </a:br>
            <a:r>
              <a:rPr lang="en" i="1"/>
              <a:t>What is being asked right now?</a:t>
            </a:r>
            <a:r>
              <a:rPr lang="en"/>
              <a:t> (e.g.,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SelectStatement</a:t>
            </a:r>
            <a:r>
              <a:rPr lang="en"/>
              <a:t>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ColumnRef</a:t>
            </a:r>
            <a:r>
              <a:rPr lang="en"/>
              <a:t>) 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60" name="Google Shape;160;p25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Methodology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 ARGOS “Triangle of Validation”</a:t>
            </a:r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119500" y="-49352"/>
            <a:ext cx="6224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Methodology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68" name="Google Shape;168;p26" title="ontology_design_patte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738" y="1017725"/>
            <a:ext cx="7578527" cy="2112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311713" y="3130700"/>
            <a:ext cx="8520600" cy="15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How to access control for a query, given the database and the query agent:</a:t>
            </a:r>
            <a:endParaRPr/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Map tables and columns operated by the given query</a:t>
            </a:r>
            <a:endParaRPr/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Map query executed agents to related policies</a:t>
            </a:r>
            <a:endParaRPr/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Map filtered policies with once that related to table and column operations done in the query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Step Forward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Existing access control system controls access based on :</a:t>
            </a:r>
            <a:br>
              <a:rPr lang="en"/>
            </a:br>
            <a:r>
              <a:rPr lang="en"/>
              <a:t>Object level (eg: table, column, and row)</a:t>
            </a:r>
            <a:br>
              <a:rPr lang="en"/>
            </a:br>
            <a:r>
              <a:rPr lang="en"/>
              <a:t>Action level (eg: read, update, delete)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However, within a single action there could be multiple data operations included.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Example: `</a:t>
            </a: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SELECT name, SUM(salary) FROM employees WHERE dept_id &gt; 10;</a:t>
            </a:r>
            <a:r>
              <a:rPr lang="en"/>
              <a:t>`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Data Operations: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b="1"/>
              <a:t>View </a:t>
            </a:r>
            <a:r>
              <a:rPr lang="en"/>
              <a:t>`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/>
              <a:t>` and `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total salary</a:t>
            </a:r>
            <a:r>
              <a:rPr lang="en"/>
              <a:t>` for each `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employee</a:t>
            </a:r>
            <a:r>
              <a:rPr lang="en"/>
              <a:t>`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Who is </a:t>
            </a:r>
            <a:r>
              <a:rPr lang="en" b="1"/>
              <a:t>filtered </a:t>
            </a:r>
            <a:r>
              <a:rPr lang="en"/>
              <a:t>by `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dept_id &gt; 10</a:t>
            </a:r>
            <a:r>
              <a:rPr lang="en"/>
              <a:t>`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To represent this we introduce ‘</a:t>
            </a:r>
            <a:r>
              <a:rPr lang="en" b="1"/>
              <a:t>Action Scopes</a:t>
            </a:r>
            <a:r>
              <a:rPr lang="en"/>
              <a:t>’ for access controls</a:t>
            </a:r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77" name="Google Shape;177;p27"/>
          <p:cNvSpPr txBox="1"/>
          <p:nvPr/>
        </p:nvSpPr>
        <p:spPr>
          <a:xfrm>
            <a:off x="119500" y="-49352"/>
            <a:ext cx="6224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Methodology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Case: Securing SQL Databases</a:t>
            </a:r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Goal is to enforce access control on dynamic SQL queries from AI agents.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 Case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86" name="Google Shape;186;p28" title="ontology_over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638" y="1979950"/>
            <a:ext cx="8482324" cy="19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Evaluation: Competency Questions</a:t>
            </a: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Successfully answered all 25 Competency Questions (CQs).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Inter-world entity based CQs &amp; intra-world entity based CQs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94" name="Google Shape;194;p29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 Case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75" y="1811075"/>
            <a:ext cx="7742649" cy="275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Evaluation: Applicability</a:t>
            </a:r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The proposed ARGOS framework successfully applied to a Financial RDB / SQL use case.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And tested again 100 different query patterns could occur, with expected policy activation labels.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Result showing deterministic and complete expected policy activations in all query patterns.  </a:t>
            </a:r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 Case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ARGOS Different? (Contribution)</a:t>
            </a:r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Explicitly designed for non-human agents with a dynamic, unbounded action space.</a:t>
            </a:r>
            <a:endParaRPr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❏"/>
            </a:pPr>
            <a:r>
              <a:rPr lang="en"/>
              <a:t>Provides a formal mechanism to semantically decompose complex, structured operations (like a query).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1200"/>
              </a:spcAft>
              <a:buSzPts val="1600"/>
              <a:buChar char="❏"/>
            </a:pPr>
            <a:r>
              <a:rPr lang="en"/>
              <a:t>Allows policies to bind to the sub-parts of a single action (</a:t>
            </a: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ActionScope</a:t>
            </a:r>
            <a:r>
              <a:rPr lang="en"/>
              <a:t>), providing a necessary layer of control that was missing.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11" name="Google Shape;211;p31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 and Future Work</a:t>
            </a:r>
            <a:endParaRPr dirty="0"/>
          </a:p>
        </p:txBody>
      </p:sp>
      <p:sp>
        <p:nvSpPr>
          <p:cNvPr id="217" name="Google Shape;217;p32"/>
          <p:cNvSpPr txBox="1">
            <a:spLocks noGrp="1"/>
          </p:cNvSpPr>
          <p:nvPr>
            <p:ph type="body" idx="1"/>
          </p:nvPr>
        </p:nvSpPr>
        <p:spPr>
          <a:xfrm>
            <a:off x="226208" y="861890"/>
            <a:ext cx="8520600" cy="3682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2700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 b="1" dirty="0"/>
              <a:t>Conclusion</a:t>
            </a: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❏"/>
            </a:pPr>
            <a:r>
              <a:rPr lang="en" dirty="0"/>
              <a:t>LLM agents fundamentally break traditional access control models.</a:t>
            </a:r>
            <a:endParaRPr dirty="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❏"/>
            </a:pPr>
            <a:r>
              <a:rPr lang="en" dirty="0"/>
              <a:t>ARGOS provides a formal, semantic ODP to govern this new, dynamic action space.</a:t>
            </a:r>
            <a:endParaRPr dirty="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❏"/>
            </a:pPr>
            <a:r>
              <a:rPr lang="en" dirty="0"/>
              <a:t>It unifies schema, policy, and query semantics, enabling provable, fine-grained, and explainable enforcement.</a:t>
            </a:r>
          </a:p>
          <a:p>
            <a:pPr marL="12700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 b="1" dirty="0"/>
              <a:t>Future Work</a:t>
            </a:r>
          </a:p>
          <a:p>
            <a:pPr lvl="0">
              <a:spcBef>
                <a:spcPts val="1000"/>
              </a:spcBef>
              <a:buChar char="❏"/>
            </a:pPr>
            <a:r>
              <a:rPr lang="en-US" dirty="0"/>
              <a:t>Map ARGOS to standard Generative AI ontologies (e.g., GENAIO) for wider interoperability.</a:t>
            </a:r>
          </a:p>
          <a:p>
            <a:pPr lvl="0">
              <a:spcBef>
                <a:spcPts val="1200"/>
              </a:spcBef>
              <a:spcAft>
                <a:spcPts val="1200"/>
              </a:spcAft>
              <a:buChar char="❏"/>
            </a:pPr>
            <a:r>
              <a:rPr lang="en-US" dirty="0"/>
              <a:t>Design a way for fully automated access control systems, where complex policies could be defined and enforced through simple natural language.</a:t>
            </a:r>
          </a:p>
          <a:p>
            <a:pPr marL="12700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dirty="0"/>
              <a:t>Questions?</a:t>
            </a:r>
            <a:r>
              <a:rPr lang="en-US" dirty="0"/>
              <a:t> {</a:t>
            </a:r>
            <a:r>
              <a:rPr lang="en-US" dirty="0" err="1"/>
              <a:t>pathin</a:t>
            </a:r>
            <a:r>
              <a:rPr lang="en-US" dirty="0"/>
              <a:t>, </a:t>
            </a:r>
            <a:r>
              <a:rPr lang="en-US" dirty="0" err="1"/>
              <a:t>senevo</a:t>
            </a:r>
            <a:r>
              <a:rPr lang="en-US" dirty="0"/>
              <a:t>, </a:t>
            </a:r>
            <a:r>
              <a:rPr lang="en-US" dirty="0" err="1"/>
              <a:t>dlm</a:t>
            </a:r>
            <a:r>
              <a:rPr lang="en-US" dirty="0"/>
              <a:t>} @</a:t>
            </a:r>
            <a:r>
              <a:rPr lang="en-US" dirty="0" err="1"/>
              <a:t>rpi.edu</a:t>
            </a:r>
            <a:endParaRPr lang="en-US" dirty="0"/>
          </a:p>
          <a:p>
            <a:pPr marL="12700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18" name="Google Shape;218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119500" y="-49352"/>
            <a:ext cx="622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  <a:endParaRPr sz="13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WC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D6001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951</Words>
  <Application>Microsoft Macintosh PowerPoint</Application>
  <PresentationFormat>On-screen Show (16:9)</PresentationFormat>
  <Paragraphs>107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Montserrat Medium</vt:lpstr>
      <vt:lpstr>Calibri</vt:lpstr>
      <vt:lpstr>Roboto Mono</vt:lpstr>
      <vt:lpstr>Arial</vt:lpstr>
      <vt:lpstr>Geist</vt:lpstr>
      <vt:lpstr>TWC</vt:lpstr>
      <vt:lpstr>ARGOS: Ontology Design Patterns for Governing Dynamic Data Operations in LLM-Powered Applications</vt:lpstr>
      <vt:lpstr>The LLM Revolution in the Enterprise</vt:lpstr>
      <vt:lpstr>The RAG - Database Interaction</vt:lpstr>
      <vt:lpstr>The Access Control "Paradigm Clash"</vt:lpstr>
      <vt:lpstr>Emerged Challenge …</vt:lpstr>
      <vt:lpstr>Why an Ontology Design Pattern (ODP)?</vt:lpstr>
      <vt:lpstr>Methodology</vt:lpstr>
      <vt:lpstr>What is it?</vt:lpstr>
      <vt:lpstr>The ARGOS “Triangle of Validation”</vt:lpstr>
      <vt:lpstr>One Step Forward</vt:lpstr>
      <vt:lpstr>User Case: Securing SQL Databases</vt:lpstr>
      <vt:lpstr>Evaluation: Competency Questions</vt:lpstr>
      <vt:lpstr>Evaluation: Applicability</vt:lpstr>
      <vt:lpstr>What Makes ARGOS Different? (Contribution)</vt:lpstr>
      <vt:lpstr>Conclusion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Seneviratne, Oshani W.</cp:lastModifiedBy>
  <cp:revision>6</cp:revision>
  <dcterms:modified xsi:type="dcterms:W3CDTF">2025-10-28T16:38:56Z</dcterms:modified>
</cp:coreProperties>
</file>